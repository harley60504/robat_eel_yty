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2560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Robot 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5953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C242B"/>
                </a:solidFill>
                <a:latin typeface="Microsoft JhengHei"/>
              </a:rPr>
              <a:t>先掃描直線參數，再用 RL 微修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75104"/>
            <a:ext cx="768096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6870"/>
                </a:solidFill>
                <a:latin typeface="Microsoft JhengHei"/>
              </a:rPr>
              <a:t>用粗搜尋先找到穩定直游的 Hopf CPG 參數區間，再讓強化學習在小範圍內修正漂移、yaw、能耗與平滑度。</a:t>
            </a:r>
          </a:p>
        </p:txBody>
      </p:sp>
      <p:sp>
        <p:nvSpPr>
          <p:cNvPr id="5" name="Oval 4"/>
          <p:cNvSpPr/>
          <p:nvPr/>
        </p:nvSpPr>
        <p:spPr>
          <a:xfrm>
            <a:off x="6624828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74636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24444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74252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060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3867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24927" y="3121761"/>
            <a:ext cx="749809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74736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24544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4069079"/>
            <a:ext cx="3749039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掃描輸出
best params / top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16552"/>
            <a:ext cx="9601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3977639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縮小 RL action bounds
amp + phase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4416552"/>
            <a:ext cx="91440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3977639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RL 微調
reward-weighted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416552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69880" y="3977639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驗證與部署
straight swim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02  CPG 演算法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Hopf CPG 先定義機器魚怎麼擺尾，後面掃描與 RL 都是在調它。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每個關節是一個 Hopf oscillator；相鄰關節透過相位耦合形成往後傳的波，最後輸出 servo 目標角。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輸入參數
f, λ, ajoint
mu_scales, phase_lags
joint_bias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404872"/>
            <a:ext cx="77724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49039" y="182880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相位偏移
offset[0] = 0
offset[j] = -Σ phase_lags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2404872"/>
            <a:ext cx="77724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9516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狀態更新
r[j], θ[j]
Euler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25712" y="2404872"/>
            <a:ext cx="77724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94392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輸出角度
q[j] = ajoint r[j] cos θ[j] + bias[j]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核心更新式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33832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ω = 2πf
μ_target[j] = μ × mu_scale[j]
dr[j] = α(μ_target[j] - r[j]^2)r[j]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977639"/>
            <a:ext cx="352044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dθ[j] = ω
+ k_couple sin(phase error to neighbors)
+ k_anchor sin(reference phase error)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977639"/>
            <a:ext cx="29260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r ← max(0, r + dr × dt)
θ ← wrap_pi(θ + dθ × dt)
servo target ← clip(q, -1.2, 1.2)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04688"/>
            <a:ext cx="1042416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掃描調的是 `mu_scales` 與 `phase_lags`，等於調整波形的振幅分布與節間相位。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矩形路徑控制額外改 `joint_bias` 與轉彎時的 `mu_scales`，不需要重寫 CPG。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03  核心想法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不要讓 RL 從整片海裡找答案，先把可用參數區間掃出來。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掃描負責找到可前進且不太偏的初始 gait；RL 負責在可行區內做細節修正。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直接 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68880"/>
            <a:ext cx="1417320" cy="0"/>
          </a:xfrm>
          <a:prstGeom prst="line">
            <a:avLst/>
          </a:prstGeom>
          <a:ln w="2540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93852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B74C43"/>
                </a:solidFill>
                <a:latin typeface="Microsoft JhengHei"/>
              </a:rPr>
              <a:t>探索空間大
容易學到不穩定或偏航策略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掃描 +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206240"/>
            <a:ext cx="14173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0" y="3675887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先取得穩定直線候選
再微調性能與魯棒性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840480" cy="3017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掃描：可平行、可重現、容易知道哪組參數好。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RL：只在掃描後的窄範圍內微調，樣本效率比較高。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最後再用同一套量測腳本驗證直線速度、側向漂移與 yaw。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04  參數掃描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掃描階段搜尋的是 CPG 形狀，而不是直接控制馬達。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目前程式把 Hopf CPG 的輸出轉成 6 個尾部關節目標角，掃描的核心是振幅比例與相位差。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被掃描的 11 維參數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1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φ5</a:t>
            </a:r>
          </a:p>
        </p:txBody>
      </p:sp>
      <p:sp>
        <p:nvSpPr>
          <p:cNvPr id="18" name="Oval 17"/>
          <p:cNvSpPr/>
          <p:nvPr/>
        </p:nvSpPr>
        <p:spPr>
          <a:xfrm>
            <a:off x="6167628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35724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3820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1916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0012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8108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86016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22208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90304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3154680"/>
            <a:ext cx="3840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712" y="2999232"/>
            <a:ext cx="1252728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15000" y="3749039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HopfCPGParams
frequency / wavelength / ajoint
mu_scales / phase_lags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315968"/>
            <a:ext cx="96012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3749039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MuJoCo simulation
measure Fx, Fy,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`amp_scales_to_mu_scales()` 把振幅倍率平方後餵給 Hopf 振盪器。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`phase_lags` 決定每節之間的波往後傳遞多少。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掃描不是盲目微調 servo，而是找一組可解釋的游動波形。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05  評分邏輯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的第一關，是把前向推力做大，同時壓住側向與能耗。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149840" cy="685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score = mean_fx - fy_weight × |mean_fy| - energy_weight × energy_proxy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679F"/>
                </a:solidFill>
                <a:latin typeface="Microsoft JhengHei"/>
              </a:rPr>
              <a:t>mean_fx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39" y="3776472"/>
            <a:ext cx="594360" cy="1207008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B74C43"/>
                </a:solidFill>
                <a:latin typeface="Microsoft JhengHei"/>
              </a:rPr>
              <a:t>|mean_fy|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4455414"/>
            <a:ext cx="594360" cy="528065"/>
          </a:xfrm>
          <a:prstGeom prst="rect">
            <a:avLst/>
          </a:prstGeom>
          <a:solidFill>
            <a:srgbClr val="B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C8B2A"/>
                </a:solidFill>
                <a:latin typeface="Microsoft JhengHei"/>
              </a:rPr>
              <a:t>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4349800"/>
            <a:ext cx="594360" cy="633679"/>
          </a:xfrm>
          <a:prstGeom prst="rect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7132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保留 top rows：不是只存一個 best，而是留一批候選給後續比較。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verify-seconds：最佳參數需要跑更久，避免只是在短時間偶然高分。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輸出 CSV/JSON 後，下一步可自動轉成 RL bounds。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06  RL 微修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不再負責找大方向，而是微修掃描後的可行 gait。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EelFreeSwimRLEnv 的 action 仍是 6 個振幅倍率 + 5 個相位差，reward 多加了漂移、yaw、能耗和平滑度。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掃描 top-k
best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2807208"/>
            <a:ext cx="1033272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轉成 action bounds
lows / highs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807208"/>
            <a:ext cx="100584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5472" y="2423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RL policy learns
fine adjustment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807208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78440" y="242316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驗證直游
speed / drift / yaw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reward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forward vx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lateral vy /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yaw / yaw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C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5C6870"/>
                </a:solidFill>
                <a:latin typeface="Microsoft JhengHei"/>
              </a:rPr>
              <a:t>smooth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掃描提供合理初始區域：RL action 不需要涵蓋所有可能。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reward 讓目標從「推得動」變成「游得直、穩、低能耗」。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若換目標，例如矩形路徑或轉彎，只要替換 reward / bounds 來源即可。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07  Reward 如何改 CPG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Reward 不是直接寫進 CPG；它先更新 policy，再由 policy 改 CPG 形狀。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每一步都是：量測游泳結果 -&gt; 算 reward -&gt; 更新/選擇 policy -&gt; 產生 action -&gt; 轉成 CPG 的 mu_scales 與 phase_lags。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1645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1">
                <a:solidFill>
                  <a:srgbClr val="1C242B"/>
                </a:solidFill>
                <a:latin typeface="Microsoft JhengHei"/>
              </a:rPr>
              <a:t>observation
x, y, yaw, vx,
vy, action history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2231136"/>
            <a:ext cx="457200" cy="0"/>
          </a:xfrm>
          <a:prstGeom prst="line">
            <a:avLst/>
          </a:prstGeom>
          <a:ln w="2159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80360" y="1828800"/>
            <a:ext cx="16642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policy pi_theta(obs)
輸出 11 維 action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08576" y="2231136"/>
            <a:ext cx="438912" cy="0"/>
          </a:xfrm>
          <a:prstGeom prst="line">
            <a:avLst/>
          </a:prstGeom>
          <a:ln w="2159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02352" y="1828800"/>
            <a:ext cx="16642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_physical_action()
[-1,1] -&gt; bounds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30568" y="2231136"/>
            <a:ext cx="438912" cy="0"/>
          </a:xfrm>
          <a:prstGeom prst="line">
            <a:avLst/>
          </a:prstGeom>
          <a:ln w="2159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33488" y="1828800"/>
            <a:ext cx="170078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CPG shape
amp_scales[6]
phase_lags[5]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07424" y="2231136"/>
            <a:ext cx="429768" cy="0"/>
          </a:xfrm>
          <a:prstGeom prst="line">
            <a:avLst/>
          </a:prstGeom>
          <a:ln w="2159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601200" y="1828800"/>
            <a:ext cx="17556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Hopf CPG
q[j] -&gt; servo angle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063240"/>
            <a:ext cx="21031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C242B"/>
                </a:solidFill>
                <a:latin typeface="Microsoft JhengHei"/>
              </a:rPr>
              <a:t>寫進 CPG 的實際欄位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3456432"/>
            <a:ext cx="4572000" cy="1828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HopfCPGParams(
  frequency = fixed_frequency,
  wavelength = fixed_wavelength,
  ajoint = fixed_ajoint,
  mu_scales = amp_scales_to_mu_scales(amp_scales),
  phase_lags = phase_lags,
)
注意：reward 不在這裡；它只影響下一次 policy 會吐出什麼 action。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063240"/>
            <a:ext cx="219456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C242B"/>
                </a:solidFill>
                <a:latin typeface="Microsoft JhengHei"/>
              </a:rPr>
              <a:t>reward 改 CPG 的路徑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3456432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1C242B"/>
                </a:solidFill>
                <a:latin typeface="Microsoft JhengHei"/>
              </a:rPr>
              <a:t>1. MuJoCo 跑完這一步後量測：
   forward vx、lateral drift、yaw、energy、smoothness
2. reward = 前進獎勵 - 漂移/yaw/能耗/不平滑懲罰
3. RL 用 reward 更新 policy 參數 theta
   theta_new 會讓高 reward 的 action 更常出現
4. 下一步 policy 輸出的 action 改變，
   CPG 的 mu_scales / phase_lags 就跟著改變。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469880" y="2651760"/>
            <a:ext cx="0" cy="658368"/>
          </a:xfrm>
          <a:prstGeom prst="line">
            <a:avLst/>
          </a:prstGeom>
          <a:ln w="1778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703320" y="2724912"/>
            <a:ext cx="6126480" cy="260604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0" y="5532120"/>
            <a:ext cx="43891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reward 回饋到 policy theta，不是直接回填到 CPG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79008"/>
            <a:ext cx="1042416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掃描給 bounds：限制 action 可以改 CPG 的範圍。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RL 學 policy：根據 reward 決定下一次要把振幅或相位往哪裡調。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CPG 仍負責產生連續、可部署的馬達角度。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08  自動化流程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整個流程可以做成一次執行：掃描、收斂、RL、驗證、輸出報告。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設定基準參數
freq / wavelength / ajoint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產生候選
random starts + local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MuJoCo 評估
Fx / Fy /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排序與保存
top-k CSV /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轉 RL bounds
narrow action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訓練 RL
reward shaping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驗證直線游
speed / drift / yaw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輸出最佳 gait
params + plots +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2697480"/>
            <a:ext cx="7269480" cy="155448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4663440"/>
            <a:ext cx="91440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4663440"/>
            <a:ext cx="914400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06640" y="2697480"/>
            <a:ext cx="411480" cy="1554480"/>
          </a:xfrm>
          <a:prstGeom prst="line">
            <a:avLst/>
          </a:prstGeom>
          <a:ln w="1905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310128"/>
            <a:ext cx="22860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未達門檻就回到排序/範圍設定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09  實作輸出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自動化腳本應該留下三種東西：參數、軌跡、決策依據。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1. 參數檔
best_params.json
amp_scales / phase_lags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2. 指標表
scan_results.csv
score / Fx / Fy /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3. 驗證軌跡
trajectory.csv / plots
x-y / yaw /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539496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掃描後：把 top-k 的 min/max 或 best ± margin 轉為 RL bounds。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RL 後：用相同 measurement script 重跑，避免 reward 和真實評估脫節。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最終報告：列出 baseline、scan-best、RL-best 三者比較。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703320"/>
            <a:ext cx="4754880" cy="178308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建議指令範例
python auto_tune_hopf_shape.py --xml eel_tethered.xml --output-dir outputs/hopf_shape_auto
python measure_free_swim_speed.py --amp-scales ... --phase-lags ... --csv outputs/verify.csv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10  繞長方形流程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找好後，長方形路徑只需要在上層加 steering。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底層仍用掃描/RL 得到的 Hopf CPG 直游參數；上層 pure pursuit 決定目前要往哪個方向修正。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64040" y="1920240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47119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464040" y="2999232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464040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173967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5951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11173967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951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9390888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9390888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P4</a:t>
            </a:r>
          </a:p>
        </p:txBody>
      </p:sp>
      <p:sp>
        <p:nvSpPr>
          <p:cNvPr id="18" name="Isosceles Triangle 17"/>
          <p:cNvSpPr/>
          <p:nvPr/>
        </p:nvSpPr>
        <p:spPr>
          <a:xfrm rot="16200000">
            <a:off x="10237622" y="2741005"/>
            <a:ext cx="164592" cy="128016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10374782" y="2750149"/>
            <a:ext cx="109728" cy="109728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9022" y="2923885"/>
            <a:ext cx="6400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239182"/>
                </a:solidFill>
                <a:latin typeface="Microsoft JhengHei"/>
              </a:rPr>
              <a:t>robot 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9544"/>
            <a:ext cx="205740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3 m x 1.5 m rectangle course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029968"/>
            <a:ext cx="1920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1. 取得位置
base x, y, yaw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24912" y="23682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310128" y="2029968"/>
            <a:ext cx="1965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2. 最近路徑進度
closest_s(x, 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58384" y="2368296"/>
            <a:ext cx="51206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961888" y="2029968"/>
            <a:ext cx="2148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3. 前視目標點
point_at(s + lookahead)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901952" y="2761488"/>
            <a:ext cx="5138928" cy="100584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1520" y="384048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4. heading error
wrap_pi(desired_yaw - yaw)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54680" y="4197096"/>
            <a:ext cx="521207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67328" y="384048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5. steering bias
low-pass + clamp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25312" y="41970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510528" y="3840480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6. 更新 CPG
joint_bias + turn amp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59952" y="4197096"/>
            <a:ext cx="493776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345168" y="38404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7. 評估
laps / contacts / bounds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166360"/>
            <a:ext cx="107899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`pure_pursuit`：用最近路徑進度加上 `lookahead`，不是只追下一個角點。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`steering_profile()`：把單一 steer 值變成 6 個 joint bias，尾端修正較大。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`turning_amp_scales()`：轉彎時尾端振幅增加，讓身體更容易繞角。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11  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這個流程的價值，是把可解釋搜尋和資料驅動微調接起來。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4679F"/>
                </a:solidFill>
                <a:latin typeface="Microsoft JhengHei"/>
              </a:rPr>
              <a:t>先懂 CPG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CPG 定義擺尾波形；掃描與 RL 都是在調這個波形。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39182"/>
                </a:solidFill>
                <a:latin typeface="Microsoft JhengHei"/>
              </a:rPr>
              <a:t>再掃描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用物理模擬快速找出可直游的 CPG 參數區域。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CC8B2A"/>
                </a:solidFill>
                <a:latin typeface="Microsoft JhengHei"/>
              </a:rPr>
              <a:t>最後微修與繞路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RL 修正直游品質，長方形路徑再用 steering 接上。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C242B"/>
                </a:solidFill>
                <a:latin typeface="Microsoft JhengHei"/>
              </a:rPr>
              <a:t>重點：CPG 負責產生擺尾波形，掃描先找穩定直游參數，RL 再在合理範圍內微調，最後用 steering 接上長方形路徑。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