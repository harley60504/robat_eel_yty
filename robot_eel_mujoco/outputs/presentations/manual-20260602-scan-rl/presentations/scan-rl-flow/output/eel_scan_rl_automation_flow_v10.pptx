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2560320" cy="32004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4679F"/>
                </a:solidFill>
                <a:latin typeface="Microsoft JhengHei"/>
              </a:rPr>
              <a:t>Robot Eel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78992"/>
            <a:ext cx="8595360" cy="77724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3400" b="1">
                <a:solidFill>
                  <a:srgbClr val="1C242B"/>
                </a:solidFill>
                <a:latin typeface="Microsoft JhengHei"/>
              </a:rPr>
              <a:t>先掃描直線參數，再用 RL 微修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75104"/>
            <a:ext cx="768096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600" b="0">
                <a:solidFill>
                  <a:srgbClr val="5C6870"/>
                </a:solidFill>
                <a:latin typeface="Microsoft JhengHei"/>
              </a:rPr>
              <a:t>用粗搜尋先找到穩定直游的 Hopf CPG 參數區間，再讓強化學習在小範圍內修正漂移、yaw、能耗與平滑度。</a:t>
            </a:r>
          </a:p>
        </p:txBody>
      </p:sp>
      <p:sp>
        <p:nvSpPr>
          <p:cNvPr id="5" name="Oval 4"/>
          <p:cNvSpPr/>
          <p:nvPr/>
        </p:nvSpPr>
        <p:spPr>
          <a:xfrm>
            <a:off x="6624828" y="3071469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74636" y="3685946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124444" y="3071469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874252" y="3685946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24060" y="3071469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373867" y="3685946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6675120" y="3121761"/>
            <a:ext cx="749807" cy="614477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7424927" y="3121761"/>
            <a:ext cx="749809" cy="614477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174736" y="3121761"/>
            <a:ext cx="749808" cy="614477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8924544" y="3121761"/>
            <a:ext cx="749808" cy="614477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674352" y="3121761"/>
            <a:ext cx="749807" cy="614477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675120" y="4069079"/>
            <a:ext cx="3749039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5C6870"/>
                </a:solidFill>
                <a:latin typeface="Microsoft JhengHei"/>
              </a:rPr>
              <a:t>6 joints: amp scales + phase lags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3977639"/>
            <a:ext cx="20574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300" b="1">
                <a:solidFill>
                  <a:srgbClr val="24679F"/>
                </a:solidFill>
                <a:latin typeface="Microsoft JhengHei"/>
              </a:rPr>
              <a:t>掃描輸出
best params / top rows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926080" y="4416552"/>
            <a:ext cx="960120" cy="0"/>
          </a:xfrm>
          <a:prstGeom prst="line">
            <a:avLst/>
          </a:prstGeom>
          <a:ln w="2540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977639" y="3977639"/>
            <a:ext cx="23317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300" b="1">
                <a:solidFill>
                  <a:srgbClr val="239182"/>
                </a:solidFill>
                <a:latin typeface="Microsoft JhengHei"/>
              </a:rPr>
              <a:t>縮小 RL action bounds
amp + phase window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355080" y="4416552"/>
            <a:ext cx="914400" cy="0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7360920" y="3977639"/>
            <a:ext cx="22402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300" b="1">
                <a:solidFill>
                  <a:srgbClr val="CC8B2A"/>
                </a:solidFill>
                <a:latin typeface="Microsoft JhengHei"/>
              </a:rPr>
              <a:t>RL 微調
reward-weighted policy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646920" y="4416552"/>
            <a:ext cx="758952" cy="0"/>
          </a:xfrm>
          <a:prstGeom prst="line">
            <a:avLst/>
          </a:prstGeom>
          <a:ln w="25400">
            <a:solidFill>
              <a:srgbClr val="CC8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10469880" y="3977639"/>
            <a:ext cx="14173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B74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B74C43"/>
                </a:solidFill>
                <a:latin typeface="Microsoft JhengHei"/>
              </a:rPr>
              <a:t>驗證與部署
straight swim gait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02  CPG 演算法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Hopf CPG 先定義機器魚怎麼擺尾，後面掃描與 RL 都是在調它。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9601200" cy="32918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C6870"/>
                </a:solidFill>
                <a:latin typeface="Microsoft JhengHei"/>
              </a:rPr>
              <a:t>每個關節是一個 Hopf oscillator；相鄰關節透過相位耦合形成往後傳的波，最後輸出 servo 目標角。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1">
                <a:solidFill>
                  <a:srgbClr val="24679F"/>
                </a:solidFill>
                <a:latin typeface="Microsoft JhengHei"/>
              </a:rPr>
              <a:t>輸入參數
f, λ, ajoint
mu_scales, phase_lags
joint_bias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880360" y="2404872"/>
            <a:ext cx="777240" cy="0"/>
          </a:xfrm>
          <a:prstGeom prst="line">
            <a:avLst/>
          </a:prstGeom>
          <a:ln w="2286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749039" y="1828800"/>
            <a:ext cx="22402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1">
                <a:solidFill>
                  <a:srgbClr val="239182"/>
                </a:solidFill>
                <a:latin typeface="Microsoft JhengHei"/>
              </a:rPr>
              <a:t>相位偏移
offset[0] = 0
offset[j] = -Σ phase_lags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126480" y="2404872"/>
            <a:ext cx="777240" cy="0"/>
          </a:xfrm>
          <a:prstGeom prst="line">
            <a:avLst/>
          </a:prstGeom>
          <a:ln w="2286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6995160" y="1828800"/>
            <a:ext cx="2011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1">
                <a:solidFill>
                  <a:srgbClr val="CC8B2A"/>
                </a:solidFill>
                <a:latin typeface="Microsoft JhengHei"/>
              </a:rPr>
              <a:t>狀態更新
r[j], θ[j]
Euler integration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125712" y="2404872"/>
            <a:ext cx="777240" cy="0"/>
          </a:xfrm>
          <a:prstGeom prst="line">
            <a:avLst/>
          </a:prstGeom>
          <a:ln w="22860">
            <a:solidFill>
              <a:srgbClr val="CC8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9994392" y="1828800"/>
            <a:ext cx="2011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74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B74C43"/>
                </a:solidFill>
                <a:latin typeface="Microsoft JhengHei"/>
              </a:rPr>
              <a:t>輸出角度
q[j] = ajoint r[j] cos θ[j] + bias[j]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20440"/>
            <a:ext cx="182880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C242B"/>
                </a:solidFill>
                <a:latin typeface="Microsoft JhengHei"/>
              </a:rPr>
              <a:t>核心更新式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3977639"/>
            <a:ext cx="3383280" cy="1143000"/>
          </a:xfrm>
          <a:prstGeom prst="rect">
            <a:avLst/>
          </a:prstGeom>
          <a:solidFill>
            <a:srgbClr val="1C242B"/>
          </a:solidFill>
          <a:ln w="12700">
            <a:solidFill>
              <a:srgbClr val="1C2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JhengHei"/>
              </a:rPr>
              <a:t>ω = 2πf
μ_target[j] = μ × mu_scale[j]
dr[j] = α(μ_target[j] - r[j]^2)r[j]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26280" y="3977639"/>
            <a:ext cx="3520440" cy="1143000"/>
          </a:xfrm>
          <a:prstGeom prst="rect">
            <a:avLst/>
          </a:prstGeom>
          <a:solidFill>
            <a:srgbClr val="1C242B"/>
          </a:solidFill>
          <a:ln w="12700">
            <a:solidFill>
              <a:srgbClr val="1C2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JhengHei"/>
              </a:rPr>
              <a:t>dθ[j] = ω
+ k_couple sin(phase error to neighbors)
+ k_anchor sin(reference phase error)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21040" y="3977639"/>
            <a:ext cx="2926080" cy="1143000"/>
          </a:xfrm>
          <a:prstGeom prst="rect">
            <a:avLst/>
          </a:prstGeom>
          <a:solidFill>
            <a:srgbClr val="1C242B"/>
          </a:solidFill>
          <a:ln w="12700">
            <a:solidFill>
              <a:srgbClr val="1C2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JhengHei"/>
              </a:rPr>
              <a:t>r ← max(0, r + dr × dt)
θ ← wrap_pi(θ + dθ × dt)
servo target ← clip(q, -1.2, 1.2)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504688"/>
            <a:ext cx="10424160" cy="6583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掃描調的是 `mu_scales` 與 `phase_lags`，等於調整波形的振幅分布與節間相位。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矩形路徑控制額外改 `joint_bias` 與轉彎時的 `mu_scales`，不需要重寫 CPG。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03  核心想法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不要讓 RL 從整片海裡找答案，先把可用參數區間掃出來。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9601200" cy="32918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C6870"/>
                </a:solidFill>
                <a:latin typeface="Microsoft JhengHei"/>
              </a:rPr>
              <a:t>掃描負責找到可前進且不太偏的初始 gait；RL 負責在可行區內做細節修正。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48840"/>
            <a:ext cx="1920240" cy="640080"/>
          </a:xfrm>
          <a:prstGeom prst="rect">
            <a:avLst/>
          </a:prstGeom>
          <a:solidFill>
            <a:srgbClr val="EEEAE2"/>
          </a:solidFill>
          <a:ln w="12700">
            <a:solidFill>
              <a:srgbClr val="C1B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600" b="1">
                <a:solidFill>
                  <a:srgbClr val="1C242B"/>
                </a:solidFill>
                <a:latin typeface="Microsoft JhengHei"/>
              </a:rPr>
              <a:t>直接 RL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743200" y="2468880"/>
            <a:ext cx="1417320" cy="0"/>
          </a:xfrm>
          <a:prstGeom prst="line">
            <a:avLst/>
          </a:prstGeom>
          <a:ln w="25400">
            <a:solidFill>
              <a:srgbClr val="B74C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297680" y="1938528"/>
            <a:ext cx="27432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B74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B74C43"/>
                </a:solidFill>
                <a:latin typeface="Microsoft JhengHei"/>
              </a:rPr>
              <a:t>探索空間大
容易學到不穩定或偏航策略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886200"/>
            <a:ext cx="1920240" cy="640080"/>
          </a:xfrm>
          <a:prstGeom prst="rect">
            <a:avLst/>
          </a:prstGeom>
          <a:solidFill>
            <a:srgbClr val="EEEAE2"/>
          </a:solidFill>
          <a:ln w="12700">
            <a:solidFill>
              <a:srgbClr val="C1B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600" b="1">
                <a:solidFill>
                  <a:srgbClr val="1C242B"/>
                </a:solidFill>
                <a:latin typeface="Microsoft JhengHei"/>
              </a:rPr>
              <a:t>掃描 + RL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743200" y="4206240"/>
            <a:ext cx="1417320" cy="0"/>
          </a:xfrm>
          <a:prstGeom prst="line">
            <a:avLst/>
          </a:prstGeom>
          <a:ln w="2540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4297680" y="3675887"/>
            <a:ext cx="27432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4679F"/>
                </a:solidFill>
                <a:latin typeface="Microsoft JhengHei"/>
              </a:rPr>
              <a:t>先取得穩定直線候選
再微調性能與魯棒性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1965960"/>
            <a:ext cx="3840480" cy="30175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1C242B"/>
                </a:solidFill>
                <a:latin typeface="Microsoft JhengHei"/>
              </a:rPr>
              <a:t>• 掃描：可平行、可重現、容易知道哪組參數好。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C242B"/>
                </a:solidFill>
                <a:latin typeface="Microsoft JhengHei"/>
              </a:rPr>
              <a:t>• RL：只在掃描後的窄範圍內微調，樣本效率比較高。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C242B"/>
                </a:solidFill>
                <a:latin typeface="Microsoft JhengHei"/>
              </a:rPr>
              <a:t>• 最後再用同一套量測腳本驗證直線速度、側向漂移與 yaw。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04  參數掃描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掃描階段搜尋的是 CPG 形狀，而不是直接控制馬達。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9601200" cy="32918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C6870"/>
                </a:solidFill>
                <a:latin typeface="Microsoft JhengHei"/>
              </a:rPr>
              <a:t>目前程式把 Hopf CPG 的輸出轉成 6 個尾部關節目標角，掃描的核心是振幅比例與相位差。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3291840" cy="32004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C242B"/>
                </a:solidFill>
                <a:latin typeface="Microsoft JhengHei"/>
              </a:rPr>
              <a:t>被掃描的 11 維參數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606040"/>
            <a:ext cx="47548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39182"/>
                </a:solidFill>
                <a:latin typeface="Microsoft JhengHei"/>
              </a:rPr>
              <a:t>A1</a:t>
            </a:r>
          </a:p>
        </p:txBody>
      </p:sp>
      <p:sp>
        <p:nvSpPr>
          <p:cNvPr id="8" name="Rectangle 7"/>
          <p:cNvSpPr/>
          <p:nvPr/>
        </p:nvSpPr>
        <p:spPr>
          <a:xfrm>
            <a:off x="1399032" y="2606040"/>
            <a:ext cx="47548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39182"/>
                </a:solidFill>
                <a:latin typeface="Microsoft JhengHei"/>
              </a:rPr>
              <a:t>A2</a:t>
            </a:r>
          </a:p>
        </p:txBody>
      </p:sp>
      <p:sp>
        <p:nvSpPr>
          <p:cNvPr id="9" name="Rectangle 8"/>
          <p:cNvSpPr/>
          <p:nvPr/>
        </p:nvSpPr>
        <p:spPr>
          <a:xfrm>
            <a:off x="2020824" y="2606040"/>
            <a:ext cx="47548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39182"/>
                </a:solidFill>
                <a:latin typeface="Microsoft JhengHei"/>
              </a:rPr>
              <a:t>A3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42616" y="2606040"/>
            <a:ext cx="47548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39182"/>
                </a:solidFill>
                <a:latin typeface="Microsoft JhengHei"/>
              </a:rPr>
              <a:t>A4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64408" y="2606040"/>
            <a:ext cx="47548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39182"/>
                </a:solidFill>
                <a:latin typeface="Microsoft JhengHei"/>
              </a:rPr>
              <a:t>A5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86200" y="2606040"/>
            <a:ext cx="47548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39182"/>
                </a:solidFill>
                <a:latin typeface="Microsoft JhengHei"/>
              </a:rPr>
              <a:t>A6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3401568"/>
            <a:ext cx="53035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4679F"/>
                </a:solidFill>
                <a:latin typeface="Microsoft JhengHei"/>
              </a:rPr>
              <a:t>φ1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47088" y="3401568"/>
            <a:ext cx="53035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4679F"/>
                </a:solidFill>
                <a:latin typeface="Microsoft JhengHei"/>
              </a:rPr>
              <a:t>φ2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96896" y="3401568"/>
            <a:ext cx="53035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4679F"/>
                </a:solidFill>
                <a:latin typeface="Microsoft JhengHei"/>
              </a:rPr>
              <a:t>φ3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46704" y="3401568"/>
            <a:ext cx="53035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4679F"/>
                </a:solidFill>
                <a:latin typeface="Microsoft JhengHei"/>
              </a:rPr>
              <a:t>φ4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96511" y="3401568"/>
            <a:ext cx="53035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4679F"/>
                </a:solidFill>
                <a:latin typeface="Microsoft JhengHei"/>
              </a:rPr>
              <a:t>φ5</a:t>
            </a:r>
          </a:p>
        </p:txBody>
      </p:sp>
      <p:sp>
        <p:nvSpPr>
          <p:cNvPr id="18" name="Oval 17"/>
          <p:cNvSpPr/>
          <p:nvPr/>
        </p:nvSpPr>
        <p:spPr>
          <a:xfrm>
            <a:off x="6167628" y="2299716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935724" y="2811779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703820" y="2299716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471916" y="2811779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40012" y="2299716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008108" y="2811779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6217920" y="2350008"/>
            <a:ext cx="768096" cy="512064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6986016" y="2350008"/>
            <a:ext cx="768096" cy="512064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754112" y="2350008"/>
            <a:ext cx="768096" cy="512064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8522208" y="2350008"/>
            <a:ext cx="768096" cy="512064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290304" y="2350008"/>
            <a:ext cx="768096" cy="512064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217920" y="3154680"/>
            <a:ext cx="38404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5C6870"/>
                </a:solidFill>
                <a:latin typeface="Microsoft JhengHei"/>
              </a:rPr>
              <a:t>6 joints: amp scales + phase lags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553712" y="2999232"/>
            <a:ext cx="1252728" cy="0"/>
          </a:xfrm>
          <a:prstGeom prst="line">
            <a:avLst/>
          </a:prstGeom>
          <a:ln w="2540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5715000" y="3749039"/>
            <a:ext cx="28346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1B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300" b="1">
                <a:solidFill>
                  <a:srgbClr val="1C242B"/>
                </a:solidFill>
                <a:latin typeface="Microsoft JhengHei"/>
              </a:rPr>
              <a:t>HopfCPGParams
frequency / wavelength / ajoint
mu_scales / phase_lags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641080" y="4315968"/>
            <a:ext cx="960120" cy="0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9692640" y="3749039"/>
            <a:ext cx="20574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1B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300" b="1">
                <a:solidFill>
                  <a:srgbClr val="1C242B"/>
                </a:solidFill>
                <a:latin typeface="Microsoft JhengHei"/>
              </a:rPr>
              <a:t>MuJoCo simulation
measure Fx, Fy, energy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4343400"/>
            <a:ext cx="4937760" cy="12801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300">
                <a:solidFill>
                  <a:srgbClr val="1C242B"/>
                </a:solidFill>
                <a:latin typeface="Microsoft JhengHei"/>
              </a:rPr>
              <a:t>• `amp_scales_to_mu_scales()` 把振幅倍率平方後餵給 Hopf 振盪器。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1C242B"/>
                </a:solidFill>
                <a:latin typeface="Microsoft JhengHei"/>
              </a:rPr>
              <a:t>• `phase_lags` 決定每節之間的波往後傳遞多少。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1C242B"/>
                </a:solidFill>
                <a:latin typeface="Microsoft JhengHei"/>
              </a:rPr>
              <a:t>• 掃描不是盲目微調 servo，而是找一組可解釋的游動波形。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05  評分邏輯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直線 gait 的第一關，是把前向推力做大，同時壓住側向與能耗。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828800"/>
            <a:ext cx="10149840" cy="685800"/>
          </a:xfrm>
          <a:prstGeom prst="rect">
            <a:avLst/>
          </a:prstGeom>
          <a:solidFill>
            <a:srgbClr val="1C242B"/>
          </a:solidFill>
          <a:ln w="12700">
            <a:solidFill>
              <a:srgbClr val="1C2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JhengHei"/>
              </a:rPr>
              <a:t>score = mean_fx - fy_weight × |mean_fy| - energy_weight × energy_proxy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971800"/>
            <a:ext cx="256032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24679F"/>
                </a:solidFill>
                <a:latin typeface="Microsoft JhengHei"/>
              </a:rPr>
              <a:t>mean_fx</a:t>
            </a:r>
          </a:p>
        </p:txBody>
      </p:sp>
      <p:sp>
        <p:nvSpPr>
          <p:cNvPr id="7" name="Rectangle 6"/>
          <p:cNvSpPr/>
          <p:nvPr/>
        </p:nvSpPr>
        <p:spPr>
          <a:xfrm>
            <a:off x="1920239" y="3776472"/>
            <a:ext cx="594360" cy="1207008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5166360"/>
            <a:ext cx="256032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5C6870"/>
                </a:solidFill>
                <a:latin typeface="Microsoft JhengHei"/>
              </a:rPr>
              <a:t>想要大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971800"/>
            <a:ext cx="256032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B74C43"/>
                </a:solidFill>
                <a:latin typeface="Microsoft JhengHei"/>
              </a:rPr>
              <a:t>|mean_fy|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4455414"/>
            <a:ext cx="594360" cy="528065"/>
          </a:xfrm>
          <a:prstGeom prst="rect">
            <a:avLst/>
          </a:prstGeom>
          <a:solidFill>
            <a:srgbClr val="B74C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5166360"/>
            <a:ext cx="256032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5C6870"/>
                </a:solidFill>
                <a:latin typeface="Microsoft JhengHei"/>
              </a:rPr>
              <a:t>想要小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2971800"/>
            <a:ext cx="256032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CC8B2A"/>
                </a:solidFill>
                <a:latin typeface="Microsoft JhengHei"/>
              </a:rPr>
              <a:t>energy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19" y="4349800"/>
            <a:ext cx="594360" cy="633679"/>
          </a:xfrm>
          <a:prstGeom prst="rect">
            <a:avLst/>
          </a:prstGeom>
          <a:solidFill>
            <a:srgbClr val="CC8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2440" y="5166360"/>
            <a:ext cx="256032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5C6870"/>
                </a:solidFill>
                <a:latin typeface="Microsoft JhengHei"/>
              </a:rPr>
              <a:t>想要小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532120"/>
            <a:ext cx="10241280" cy="7132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保留 top rows：不是只存一個 best，而是留一批候選給後續比較。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verify-seconds：最佳參數需要跑更久，避免只是在短時間偶然高分。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輸出 CSV/JSON 後，下一步可自動轉成 RL bounds。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06  RL 微修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RL 不再負責找大方向，而是微修掃描後的可行 gait。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9601200" cy="32918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C6870"/>
                </a:solidFill>
                <a:latin typeface="Microsoft JhengHei"/>
              </a:rPr>
              <a:t>EelFreeSwimRLEnv 的 action 仍是 6 個振幅倍率 + 5 個相位差，reward 多加了漂移、yaw、能耗和平滑度。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423160"/>
            <a:ext cx="1828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4679F"/>
                </a:solidFill>
                <a:latin typeface="Microsoft JhengHei"/>
              </a:rPr>
              <a:t>掃描 top-k
best rows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761488" y="2807208"/>
            <a:ext cx="1033272" cy="0"/>
          </a:xfrm>
          <a:prstGeom prst="line">
            <a:avLst/>
          </a:prstGeom>
          <a:ln w="2540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886200" y="2423160"/>
            <a:ext cx="21031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39182"/>
                </a:solidFill>
                <a:latin typeface="Microsoft JhengHei"/>
              </a:rPr>
              <a:t>轉成 action bounds
lows / highs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108192" y="2807208"/>
            <a:ext cx="1005840" cy="0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7205472" y="2423160"/>
            <a:ext cx="22402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CC8B2A"/>
                </a:solidFill>
                <a:latin typeface="Microsoft JhengHei"/>
              </a:rPr>
              <a:t>RL policy learns
fine adjustment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555480" y="2807208"/>
            <a:ext cx="758952" cy="0"/>
          </a:xfrm>
          <a:prstGeom prst="line">
            <a:avLst/>
          </a:prstGeom>
          <a:ln w="25400">
            <a:solidFill>
              <a:srgbClr val="CC8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10378440" y="2423160"/>
            <a:ext cx="15087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74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1">
                <a:solidFill>
                  <a:srgbClr val="B74C43"/>
                </a:solidFill>
                <a:latin typeface="Microsoft JhengHei"/>
              </a:rPr>
              <a:t>驗證直游
speed / drift / yaw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069080"/>
            <a:ext cx="182880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C242B"/>
                </a:solidFill>
                <a:latin typeface="Microsoft JhengHei"/>
              </a:rPr>
              <a:t>reward terms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572000"/>
            <a:ext cx="1874519" cy="47548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73152"/>
          <a:lstStyle/>
          <a:p>
            <a:pPr algn="ctr"/>
            <a:r>
              <a:rPr sz="1200" b="1">
                <a:solidFill>
                  <a:srgbClr val="24679F"/>
                </a:solidFill>
                <a:latin typeface="Microsoft JhengHei"/>
              </a:rPr>
              <a:t>forward vx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90672" y="4572000"/>
            <a:ext cx="1874519" cy="47548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74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73152"/>
          <a:lstStyle/>
          <a:p>
            <a:pPr algn="ctr"/>
            <a:r>
              <a:rPr sz="1200" b="1">
                <a:solidFill>
                  <a:srgbClr val="B74C43"/>
                </a:solidFill>
                <a:latin typeface="Microsoft JhengHei"/>
              </a:rPr>
              <a:t>lateral vy / 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12664" y="4572000"/>
            <a:ext cx="1874519" cy="47548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73152"/>
          <a:lstStyle/>
          <a:p>
            <a:pPr algn="ctr"/>
            <a:r>
              <a:rPr sz="1200" b="1">
                <a:solidFill>
                  <a:srgbClr val="CC8B2A"/>
                </a:solidFill>
                <a:latin typeface="Microsoft JhengHei"/>
              </a:rPr>
              <a:t>yaw / yaw rate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34656" y="4572000"/>
            <a:ext cx="1874519" cy="47548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73152"/>
          <a:lstStyle/>
          <a:p>
            <a:pPr algn="ctr"/>
            <a:r>
              <a:rPr sz="1200" b="1">
                <a:solidFill>
                  <a:srgbClr val="239182"/>
                </a:solidFill>
                <a:latin typeface="Microsoft JhengHei"/>
              </a:rPr>
              <a:t>energy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56648" y="4572000"/>
            <a:ext cx="1874519" cy="47548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5C6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73152"/>
          <a:lstStyle/>
          <a:p>
            <a:pPr algn="ctr"/>
            <a:r>
              <a:rPr sz="1200" b="1">
                <a:solidFill>
                  <a:srgbClr val="5C6870"/>
                </a:solidFill>
                <a:latin typeface="Microsoft JhengHei"/>
              </a:rPr>
              <a:t>smooth 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486400"/>
            <a:ext cx="10607040" cy="7772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掃描提供合理初始區域：RL action 不需要涵蓋所有可能。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reward 讓目標從「推得動」變成「游得直、穩、低能耗」。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若換目標，例如矩形路徑或轉彎，只要替換 reward / bounds 來源即可。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07  RL 調哪裡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RL 調的是 CPG 的形狀參數，不是直接輸出每顆馬達角度。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9601200" cy="32918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C6870"/>
                </a:solidFill>
                <a:latin typeface="Microsoft JhengHei"/>
              </a:rPr>
              <a:t>在目前 `EelFreeSwimRLEnv`，action 會被轉成 6 個振幅倍率與 5 個相位差，再塞回 HopfCPGParams。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65960"/>
            <a:ext cx="20574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300" b="1">
                <a:solidFill>
                  <a:srgbClr val="24679F"/>
                </a:solidFill>
                <a:latin typeface="Microsoft JhengHei"/>
              </a:rPr>
              <a:t>RL action
11 維 normalized action
[-1, 1]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907792" y="2404872"/>
            <a:ext cx="795528" cy="0"/>
          </a:xfrm>
          <a:prstGeom prst="line">
            <a:avLst/>
          </a:prstGeom>
          <a:ln w="2286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794760" y="1965960"/>
            <a:ext cx="22402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300" b="1">
                <a:solidFill>
                  <a:srgbClr val="239182"/>
                </a:solidFill>
                <a:latin typeface="Microsoft JhengHei"/>
              </a:rPr>
              <a:t>_physical_action()
把 [-1,1] 映射到 bounds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144768" y="2404872"/>
            <a:ext cx="786384" cy="0"/>
          </a:xfrm>
          <a:prstGeom prst="line">
            <a:avLst/>
          </a:prstGeom>
          <a:ln w="2286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7022592" y="1965960"/>
            <a:ext cx="20574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300" b="1">
                <a:solidFill>
                  <a:srgbClr val="CC8B2A"/>
                </a:solidFill>
                <a:latin typeface="Microsoft JhengHei"/>
              </a:rPr>
              <a:t>amp_scales[1..6]
控制每節擺尾振幅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189720" y="2404872"/>
            <a:ext cx="758952" cy="0"/>
          </a:xfrm>
          <a:prstGeom prst="line">
            <a:avLst/>
          </a:prstGeom>
          <a:ln w="22860">
            <a:solidFill>
              <a:srgbClr val="CC8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10040112" y="1965960"/>
            <a:ext cx="1874519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B74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1">
                <a:solidFill>
                  <a:srgbClr val="B74C43"/>
                </a:solidFill>
                <a:latin typeface="Microsoft JhengHei"/>
              </a:rPr>
              <a:t>phase_lags[1..5]
控制波往後傳的相位差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93008"/>
            <a:ext cx="210312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C242B"/>
                </a:solidFill>
                <a:latin typeface="Microsoft JhengHei"/>
              </a:rPr>
              <a:t>塞回 CPG 的位置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3913632"/>
            <a:ext cx="4846320" cy="1600200"/>
          </a:xfrm>
          <a:prstGeom prst="rect">
            <a:avLst/>
          </a:prstGeom>
          <a:solidFill>
            <a:srgbClr val="1C242B"/>
          </a:solidFill>
          <a:ln w="12700">
            <a:solidFill>
              <a:srgbClr val="1C2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JhengHei"/>
              </a:rPr>
              <a:t>HopfCPGParams(
  frequency = fixed_frequency,
  wavelength = fixed_wavelength,
  ajoint = fixed_ajoint,
  mu_scales = amp_scales_to_mu_scales(amp_scales),
  phase_lags = phase_lags,
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3913632"/>
            <a:ext cx="4983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300" b="1">
                <a:solidFill>
                  <a:srgbClr val="1C242B"/>
                </a:solidFill>
                <a:latin typeface="Microsoft JhengHei"/>
              </a:rPr>
              <a:t>所以 RL 實際學到的是：
1. 哪幾節要擺大或擺小
2. 每節波峰要慢一點或快一點出現
3. 在直游目標下，如何同時壓漂移、yaw、能耗和平滑度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779008"/>
            <a:ext cx="10607040" cy="6583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100">
                <a:solidFill>
                  <a:srgbClr val="1C242B"/>
                </a:solidFill>
                <a:latin typeface="Microsoft JhengHei"/>
              </a:rPr>
              <a:t>• 沒有 RL：掃描只會找到固定的一組參數。</a:t>
            </a:r>
          </a:p>
          <a:p>
            <a:pPr>
              <a:spcAft>
                <a:spcPts val="700"/>
              </a:spcAft>
            </a:pPr>
            <a:r>
              <a:rPr sz="1100">
                <a:solidFill>
                  <a:srgbClr val="1C242B"/>
                </a:solidFill>
                <a:latin typeface="Microsoft JhengHei"/>
              </a:rPr>
              <a:t>• 有 RL：policy 可根據 observation，在每一步重新給一組 CPG shape 參數。</a:t>
            </a:r>
          </a:p>
          <a:p>
            <a:pPr>
              <a:spcAft>
                <a:spcPts val="700"/>
              </a:spcAft>
            </a:pPr>
            <a:r>
              <a:rPr sz="1100">
                <a:solidFill>
                  <a:srgbClr val="1C242B"/>
                </a:solidFill>
                <a:latin typeface="Microsoft JhengHei"/>
              </a:rPr>
              <a:t>• 但它仍受掃描後 bounds 限制，所以比較不容易跑到奇怪的 gait。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08  Reward 到 CPG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Reward 改 CPG 的重點鏈路：先改 policy theta，再由 action 寫入 CPG 參數。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9601200" cy="32918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C6870"/>
                </a:solidFill>
                <a:latin typeface="Microsoft JhengHei"/>
              </a:rPr>
              <a:t>reward 算分 -&gt; 更新 policy theta -&gt; policy 輸出 action -&gt; _physical_action() 轉 bounds -&gt; amp_scales / phase_lags -&gt; HopfCPGParams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47088"/>
            <a:ext cx="384048" cy="384048"/>
          </a:xfrm>
          <a:prstGeom prst="roundRect">
            <a:avLst/>
          </a:prstGeom>
          <a:solidFill>
            <a:srgbClr val="24679F"/>
          </a:solidFill>
          <a:ln w="1397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" y="1865376"/>
            <a:ext cx="2560320" cy="25603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4679F"/>
                </a:solidFill>
                <a:latin typeface="Microsoft JhengHei"/>
              </a:rPr>
              <a:t>reward 算分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331720"/>
            <a:ext cx="3063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000" b="0">
                <a:solidFill>
                  <a:srgbClr val="1C242B"/>
                </a:solidFill>
                <a:latin typeface="Microsoft JhengHei"/>
              </a:rPr>
              <a:t>MuJoCo 跑一步後量測 vx、漂移、yaw、能耗、action 變化。
分數高代表這個 action 讓 eel 更直、更穩、更省。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785615" y="2816352"/>
            <a:ext cx="457201" cy="0"/>
          </a:xfrm>
          <a:prstGeom prst="line">
            <a:avLst/>
          </a:prstGeom>
          <a:ln w="2032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425696" y="1847088"/>
            <a:ext cx="384048" cy="384048"/>
          </a:xfrm>
          <a:prstGeom prst="roundRect">
            <a:avLst/>
          </a:prstGeom>
          <a:solidFill>
            <a:srgbClr val="239182"/>
          </a:solidFill>
          <a:ln w="1397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01183" y="1865376"/>
            <a:ext cx="2560320" cy="25603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39182"/>
                </a:solidFill>
                <a:latin typeface="Microsoft JhengHei"/>
              </a:rPr>
              <a:t>更新 policy theta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25696" y="2331720"/>
            <a:ext cx="3063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000" b="0">
                <a:solidFill>
                  <a:srgbClr val="1C242B"/>
                </a:solidFill>
                <a:latin typeface="Microsoft JhengHei"/>
              </a:rPr>
              <a:t>RL 演算法用 reward 調整神經網路權重 theta。
高 reward 的 action 機率提高，低 reward 的 action 機率降低。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552944" y="2816352"/>
            <a:ext cx="457200" cy="0"/>
          </a:xfrm>
          <a:prstGeom prst="line">
            <a:avLst/>
          </a:prstGeom>
          <a:ln w="2032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193024" y="1847088"/>
            <a:ext cx="384048" cy="384048"/>
          </a:xfrm>
          <a:prstGeom prst="roundRect">
            <a:avLst/>
          </a:prstGeom>
          <a:solidFill>
            <a:srgbClr val="CC8B2A"/>
          </a:solidFill>
          <a:ln w="1397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68512" y="1865376"/>
            <a:ext cx="2560320" cy="25603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CC8B2A"/>
                </a:solidFill>
                <a:latin typeface="Microsoft JhengHei"/>
              </a:rPr>
              <a:t>policy 輸出 action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93024" y="2331720"/>
            <a:ext cx="3063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000" b="0">
                <a:solidFill>
                  <a:srgbClr val="1C242B"/>
                </a:solidFill>
                <a:latin typeface="Microsoft JhengHei"/>
              </a:rPr>
              <a:t>新的 theta 讀 observation 後輸出 11 維 action。
action 仍是 normalized [-1, 1]，不是實際馬達角度。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3703320"/>
            <a:ext cx="320040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C242B"/>
                </a:solidFill>
                <a:latin typeface="Microsoft JhengHei"/>
              </a:rPr>
              <a:t>執行時如何真正改到 CPG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9808" y="4096512"/>
            <a:ext cx="3337560" cy="1417320"/>
          </a:xfrm>
          <a:prstGeom prst="rect">
            <a:avLst/>
          </a:prstGeom>
          <a:solidFill>
            <a:srgbClr val="1C242B"/>
          </a:solidFill>
          <a:ln w="12700">
            <a:solidFill>
              <a:srgbClr val="1C2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000" b="0">
                <a:solidFill>
                  <a:srgbClr val="FFFFFF"/>
                </a:solidFill>
                <a:latin typeface="Microsoft JhengHei"/>
              </a:rPr>
              <a:t>action[0:6]
-&gt; amp_scales
-&gt; amp_scales_to_mu_scales()
-&gt; HopfCPGParams.mu_scales
效果：改每一節的振幅大小；某節擺大、某節擺小，身體波形就改變。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07408" y="4096512"/>
            <a:ext cx="3337560" cy="1417320"/>
          </a:xfrm>
          <a:prstGeom prst="rect">
            <a:avLst/>
          </a:prstGeom>
          <a:solidFill>
            <a:srgbClr val="1C242B"/>
          </a:solidFill>
          <a:ln w="12700">
            <a:solidFill>
              <a:srgbClr val="1C2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000" b="0">
                <a:solidFill>
                  <a:srgbClr val="FFFFFF"/>
                </a:solidFill>
                <a:latin typeface="Microsoft JhengHei"/>
              </a:rPr>
              <a:t>action[6:11]
-&gt; phase_lags
-&gt; HopfCPGParams.phase_lags
效果：改相鄰關節波峰出現的時間差；相位差變大/變小，推進波往尾巴傳的節奏就改變。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65008" y="4096512"/>
            <a:ext cx="32461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74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000" b="1">
                <a:solidFill>
                  <a:srgbClr val="1C242B"/>
                </a:solidFill>
                <a:latin typeface="Microsoft JhengHei"/>
              </a:rPr>
              <a:t>HopfCPGParams(
  fixed frequency / wavelength / ajoint,
  mu_scales = new_mu_scales,
  phase_lags = new_phase_lags,
)
下一個控制步：Hopf CPG 用新參數積分，產生新的 q[j] servo target。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096512" y="4800600"/>
            <a:ext cx="274320" cy="0"/>
          </a:xfrm>
          <a:prstGeom prst="line">
            <a:avLst/>
          </a:prstGeom>
          <a:ln w="1778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754112" y="4800600"/>
            <a:ext cx="274319" cy="0"/>
          </a:xfrm>
          <a:prstGeom prst="line">
            <a:avLst/>
          </a:prstGeom>
          <a:ln w="17780">
            <a:solidFill>
              <a:srgbClr val="CC8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22960" y="5806440"/>
            <a:ext cx="10378440" cy="38404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B74C43"/>
                </a:solidFill>
                <a:latin typeface="Microsoft JhengHei"/>
              </a:rPr>
              <a:t>所以 reward 的作用不是「直接改 CPG 公式」，而是改 policy theta；policy theta 改變後，下一次 action 才會把新的振幅與相位寫進 CPG。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09  Why PPO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不用 Q-learning 查表，因為 CPG action 是 11 維連續控制。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9601200" cy="32918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C6870"/>
                </a:solidFill>
                <a:latin typeface="Microsoft JhengHei"/>
              </a:rPr>
              <a:t>PPO 直接學 policy theta，讓 observation 對應到連續的 amp_scales 與 phase_lags。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55648"/>
            <a:ext cx="2377440" cy="25603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B74C43"/>
                </a:solidFill>
                <a:latin typeface="Microsoft JhengHei"/>
              </a:rPr>
              <a:t>Q-learning 的問題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121408"/>
            <a:ext cx="3246120" cy="3310128"/>
          </a:xfrm>
          <a:prstGeom prst="rect">
            <a:avLst/>
          </a:prstGeom>
          <a:solidFill>
            <a:srgbClr val="FFFFFF"/>
          </a:solidFill>
          <a:ln w="12700">
            <a:solidFill>
              <a:srgbClr val="B74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000" b="0">
                <a:solidFill>
                  <a:srgbClr val="1C242B"/>
                </a:solidFill>
                <a:latin typeface="Microsoft JhengHei"/>
              </a:rPr>
              <a:t>Q-learning / DQN 核心是學 Q(s, a)：
在某 state 做某 action，未來總分大概多少。
但本研究 action 是：
6 個 amp_scales + 5 個 phase_lags
= 11 維連續 action。
若每一維只切 5 格：
5^11 = 48,828,125 種組合。
切 10 格則是 10^11 種。
結果：查表或離散化會讓 action space 爆炸，而且會破壞 CPG 參數的平滑微調。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1755648"/>
            <a:ext cx="2194560" cy="25603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4679F"/>
                </a:solidFill>
                <a:latin typeface="Microsoft JhengHei"/>
              </a:rPr>
              <a:t>PPO 的做法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4160520" y="2121408"/>
            <a:ext cx="3246120" cy="3310128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000" b="0">
                <a:solidFill>
                  <a:srgbClr val="1C242B"/>
                </a:solidFill>
                <a:latin typeface="Microsoft JhengHei"/>
              </a:rPr>
              <a:t>PPO 是 policy-gradient / actor-critic 方法。
它不需要列出所有 action，而是直接學：
policy theta(observation) -&gt; action
在本系統中：
observation -&gt; 11 維 action
-&gt; _physical_action()
-&gt; amp_scales / phase_lags
-&gt; HopfCPGParams
PPO 用 clipped objective 限制 policy 更新幅度，讓訓練比一般 policy gradient 穩定，也比 TRPO 更容易實作與調參。</a:t>
            </a:r>
          </a:p>
        </p:txBody>
      </p:sp>
      <p:pic>
        <p:nvPicPr>
          <p:cNvPr id="10" name="Picture 9" descr="real_vs_mujoco_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1865376"/>
            <a:ext cx="3977639" cy="1028195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26679" y="5440680"/>
            <a:ext cx="3977639" cy="2011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5C6870"/>
                </a:solidFill>
                <a:latin typeface="Microsoft JhengHei"/>
              </a:rPr>
              <a:t>real-vs-MuJoCo preview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5870448"/>
            <a:ext cx="10698480" cy="25603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0">
                <a:solidFill>
                  <a:srgbClr val="5C6870"/>
                </a:solidFill>
                <a:latin typeface="Microsoft JhengHei"/>
              </a:rPr>
              <a:t>論文依據：Schulman et al., Proximal Policy Optimization Algorithms, arXiv:1707.06347, 2017.  對照：Mnih et al., Human-level control through deep reinforcement learning, Nature, 2015.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10  自動化流程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整個流程可以做成一次執行：掃描、收斂、RL、驗證、輸出報告。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874519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24679F"/>
                </a:solidFill>
                <a:latin typeface="Microsoft JhengHei"/>
              </a:rPr>
              <a:t>設定基準參數
freq / wavelength / ajoint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88920" y="1874519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239182"/>
                </a:solidFill>
                <a:latin typeface="Microsoft JhengHei"/>
              </a:rPr>
              <a:t>產生候選
random starts + local steps</a:t>
            </a:r>
          </a:p>
        </p:txBody>
      </p:sp>
      <p:sp>
        <p:nvSpPr>
          <p:cNvPr id="7" name="Rectangle 6"/>
          <p:cNvSpPr/>
          <p:nvPr/>
        </p:nvSpPr>
        <p:spPr>
          <a:xfrm>
            <a:off x="4892040" y="1874519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CC8B2A"/>
                </a:solidFill>
                <a:latin typeface="Microsoft JhengHei"/>
              </a:rPr>
              <a:t>MuJoCo 評估
Fx / Fy / energy</a:t>
            </a:r>
          </a:p>
        </p:txBody>
      </p:sp>
      <p:sp>
        <p:nvSpPr>
          <p:cNvPr id="8" name="Rectangle 7"/>
          <p:cNvSpPr/>
          <p:nvPr/>
        </p:nvSpPr>
        <p:spPr>
          <a:xfrm>
            <a:off x="6995160" y="1874519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24679F"/>
                </a:solidFill>
                <a:latin typeface="Microsoft JhengHei"/>
              </a:rPr>
              <a:t>排序與保存
top-k CSV / JSON</a:t>
            </a:r>
          </a:p>
        </p:txBody>
      </p:sp>
      <p:sp>
        <p:nvSpPr>
          <p:cNvPr id="9" name="Rectangle 8"/>
          <p:cNvSpPr/>
          <p:nvPr/>
        </p:nvSpPr>
        <p:spPr>
          <a:xfrm>
            <a:off x="9098280" y="1874519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239182"/>
                </a:solidFill>
                <a:latin typeface="Microsoft JhengHei"/>
              </a:rPr>
              <a:t>轉 RL bounds
narrow action space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0" y="4251960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CC8B2A"/>
                </a:solidFill>
                <a:latin typeface="Microsoft JhengHei"/>
              </a:rPr>
              <a:t>訓練 RL
reward shaping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0" y="4251960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74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B74C43"/>
                </a:solidFill>
                <a:latin typeface="Microsoft JhengHei"/>
              </a:rPr>
              <a:t>驗證直線游
speed / drift / yaw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4251960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24679F"/>
                </a:solidFill>
                <a:latin typeface="Microsoft JhengHei"/>
              </a:rPr>
              <a:t>輸出最佳 gait
params + plots + log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423160" y="2286000"/>
            <a:ext cx="365760" cy="0"/>
          </a:xfrm>
          <a:prstGeom prst="line">
            <a:avLst/>
          </a:prstGeom>
          <a:ln w="2286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26280" y="2286000"/>
            <a:ext cx="365760" cy="0"/>
          </a:xfrm>
          <a:prstGeom prst="line">
            <a:avLst/>
          </a:prstGeom>
          <a:ln w="2286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629400" y="2286000"/>
            <a:ext cx="365760" cy="0"/>
          </a:xfrm>
          <a:prstGeom prst="line">
            <a:avLst/>
          </a:prstGeom>
          <a:ln w="2286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732520" y="2286000"/>
            <a:ext cx="365760" cy="0"/>
          </a:xfrm>
          <a:prstGeom prst="line">
            <a:avLst/>
          </a:prstGeom>
          <a:ln w="2286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2697480" y="2697480"/>
            <a:ext cx="7269480" cy="1554480"/>
          </a:xfrm>
          <a:prstGeom prst="line">
            <a:avLst/>
          </a:prstGeom>
          <a:ln w="2286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566160" y="4663440"/>
            <a:ext cx="914400" cy="0"/>
          </a:xfrm>
          <a:prstGeom prst="line">
            <a:avLst/>
          </a:prstGeom>
          <a:ln w="22860">
            <a:solidFill>
              <a:srgbClr val="CC8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217920" y="4663440"/>
            <a:ext cx="914400" cy="0"/>
          </a:xfrm>
          <a:prstGeom prst="line">
            <a:avLst/>
          </a:prstGeom>
          <a:ln w="22860">
            <a:solidFill>
              <a:srgbClr val="B74C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 flipV="1">
            <a:off x="7406640" y="2697480"/>
            <a:ext cx="411480" cy="1554480"/>
          </a:xfrm>
          <a:prstGeom prst="line">
            <a:avLst/>
          </a:prstGeom>
          <a:ln w="1905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726679" y="3310128"/>
            <a:ext cx="228600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5C6870"/>
                </a:solidFill>
                <a:latin typeface="Microsoft JhengHei"/>
              </a:rPr>
              <a:t>未達門檻就回到排序/範圍設定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11  實作輸出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自動化腳本應該留下三種東西：參數、軌跡、決策依據。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011680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4679F"/>
                </a:solidFill>
                <a:latin typeface="Microsoft JhengHei"/>
              </a:rPr>
              <a:t>1. 參數檔
best_params.json
amp_scales / phase_lags</a:t>
            </a:r>
          </a:p>
        </p:txBody>
      </p:sp>
      <p:sp>
        <p:nvSpPr>
          <p:cNvPr id="6" name="Rectangle 5"/>
          <p:cNvSpPr/>
          <p:nvPr/>
        </p:nvSpPr>
        <p:spPr>
          <a:xfrm>
            <a:off x="3886200" y="2011680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39182"/>
                </a:solidFill>
                <a:latin typeface="Microsoft JhengHei"/>
              </a:rPr>
              <a:t>2. 指標表
scan_results.csv
score / Fx / Fy / energy</a:t>
            </a:r>
          </a:p>
        </p:txBody>
      </p:sp>
      <p:sp>
        <p:nvSpPr>
          <p:cNvPr id="7" name="Rectangle 6"/>
          <p:cNvSpPr/>
          <p:nvPr/>
        </p:nvSpPr>
        <p:spPr>
          <a:xfrm>
            <a:off x="6949440" y="2011680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CC8B2A"/>
                </a:solidFill>
                <a:latin typeface="Microsoft JhengHei"/>
              </a:rPr>
              <a:t>3. 驗證軌跡
trajectory.csv / plots
x-y / yaw / velocity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840480"/>
            <a:ext cx="5394960" cy="1554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400">
                <a:solidFill>
                  <a:srgbClr val="1C242B"/>
                </a:solidFill>
                <a:latin typeface="Microsoft JhengHei"/>
              </a:rPr>
              <a:t>• 掃描後：把 top-k 的 min/max 或 best ± margin 轉為 RL bounds。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1C242B"/>
                </a:solidFill>
                <a:latin typeface="Microsoft JhengHei"/>
              </a:rPr>
              <a:t>• RL 後：用相同 measurement script 重跑，避免 reward 和真實評估脫節。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1C242B"/>
                </a:solidFill>
                <a:latin typeface="Microsoft JhengHei"/>
              </a:rPr>
              <a:t>• 最終報告：列出 baseline、scan-best、RL-best 三者比較。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0" y="3703320"/>
            <a:ext cx="4754880" cy="1783080"/>
          </a:xfrm>
          <a:prstGeom prst="rect">
            <a:avLst/>
          </a:prstGeom>
          <a:solidFill>
            <a:srgbClr val="1C242B"/>
          </a:solidFill>
          <a:ln w="12700">
            <a:solidFill>
              <a:srgbClr val="1C2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0">
                <a:solidFill>
                  <a:srgbClr val="FFFFFF"/>
                </a:solidFill>
                <a:latin typeface="Microsoft JhengHei"/>
              </a:rPr>
              <a:t>建議指令範例
python auto_tune_hopf_shape.py --xml eel_tethered.xml --output-dir outputs/hopf_shape_auto
python measure_free_swim_speed.py --amp-scales ... --phase-lags ... --csv outputs/verify.csv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12  繞長方形流程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直線 gait 找好後，長方形路徑只需要在上層加 steering。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9601200" cy="32918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C6870"/>
                </a:solidFill>
                <a:latin typeface="Microsoft JhengHei"/>
              </a:rPr>
              <a:t>底層仍用掃描/RL 得到的 Hopf CPG 直游參數；上層 pure pursuit 決定目前要往哪個方向修正。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464040" y="1920240"/>
            <a:ext cx="1783079" cy="0"/>
          </a:xfrm>
          <a:prstGeom prst="line">
            <a:avLst/>
          </a:prstGeom>
          <a:ln w="2794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247119" y="1920240"/>
            <a:ext cx="0" cy="1078992"/>
          </a:xfrm>
          <a:prstGeom prst="line">
            <a:avLst/>
          </a:prstGeom>
          <a:ln w="2794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9464040" y="2999232"/>
            <a:ext cx="1783079" cy="0"/>
          </a:xfrm>
          <a:prstGeom prst="line">
            <a:avLst/>
          </a:prstGeom>
          <a:ln w="2794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9464040" y="1920240"/>
            <a:ext cx="0" cy="1078992"/>
          </a:xfrm>
          <a:prstGeom prst="line">
            <a:avLst/>
          </a:prstGeom>
          <a:ln w="2794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1173967" y="1847088"/>
            <a:ext cx="146304" cy="146304"/>
          </a:xfrm>
          <a:prstGeom prst="ellipse">
            <a:avLst/>
          </a:prstGeom>
          <a:solidFill>
            <a:srgbClr val="CC8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45951" y="1609344"/>
            <a:ext cx="411480" cy="16459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5C6870"/>
                </a:solidFill>
                <a:latin typeface="Microsoft JhengHei"/>
              </a:rPr>
              <a:t>P1</a:t>
            </a:r>
          </a:p>
        </p:txBody>
      </p:sp>
      <p:sp>
        <p:nvSpPr>
          <p:cNvPr id="12" name="Oval 11"/>
          <p:cNvSpPr/>
          <p:nvPr/>
        </p:nvSpPr>
        <p:spPr>
          <a:xfrm>
            <a:off x="11173967" y="2926080"/>
            <a:ext cx="146304" cy="146304"/>
          </a:xfrm>
          <a:prstGeom prst="ellipse">
            <a:avLst/>
          </a:prstGeom>
          <a:solidFill>
            <a:srgbClr val="CC8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45951" y="2688336"/>
            <a:ext cx="411480" cy="16459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5C6870"/>
                </a:solidFill>
                <a:latin typeface="Microsoft JhengHei"/>
              </a:rPr>
              <a:t>P2</a:t>
            </a:r>
          </a:p>
        </p:txBody>
      </p:sp>
      <p:sp>
        <p:nvSpPr>
          <p:cNvPr id="14" name="Oval 13"/>
          <p:cNvSpPr/>
          <p:nvPr/>
        </p:nvSpPr>
        <p:spPr>
          <a:xfrm>
            <a:off x="9390888" y="2926080"/>
            <a:ext cx="146304" cy="146304"/>
          </a:xfrm>
          <a:prstGeom prst="ellipse">
            <a:avLst/>
          </a:prstGeom>
          <a:solidFill>
            <a:srgbClr val="CC8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62872" y="2688336"/>
            <a:ext cx="411480" cy="16459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5C6870"/>
                </a:solidFill>
                <a:latin typeface="Microsoft JhengHei"/>
              </a:rPr>
              <a:t>P3</a:t>
            </a:r>
          </a:p>
        </p:txBody>
      </p:sp>
      <p:sp>
        <p:nvSpPr>
          <p:cNvPr id="16" name="Oval 15"/>
          <p:cNvSpPr/>
          <p:nvPr/>
        </p:nvSpPr>
        <p:spPr>
          <a:xfrm>
            <a:off x="9390888" y="1847088"/>
            <a:ext cx="146304" cy="146304"/>
          </a:xfrm>
          <a:prstGeom prst="ellipse">
            <a:avLst/>
          </a:prstGeom>
          <a:solidFill>
            <a:srgbClr val="CC8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62872" y="1609344"/>
            <a:ext cx="411480" cy="16459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5C6870"/>
                </a:solidFill>
                <a:latin typeface="Microsoft JhengHei"/>
              </a:rPr>
              <a:t>P4</a:t>
            </a:r>
          </a:p>
        </p:txBody>
      </p:sp>
      <p:sp>
        <p:nvSpPr>
          <p:cNvPr id="18" name="Isosceles Triangle 17"/>
          <p:cNvSpPr/>
          <p:nvPr/>
        </p:nvSpPr>
        <p:spPr>
          <a:xfrm rot="16200000">
            <a:off x="10237622" y="2741005"/>
            <a:ext cx="164592" cy="128016"/>
          </a:xfrm>
          <a:prstGeom prst="triangl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Isosceles Triangle 18"/>
          <p:cNvSpPr/>
          <p:nvPr/>
        </p:nvSpPr>
        <p:spPr>
          <a:xfrm rot="5400000">
            <a:off x="10374782" y="2750149"/>
            <a:ext cx="109728" cy="109728"/>
          </a:xfrm>
          <a:prstGeom prst="triangl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09022" y="2923885"/>
            <a:ext cx="640080" cy="16459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700" b="1">
                <a:solidFill>
                  <a:srgbClr val="239182"/>
                </a:solidFill>
                <a:latin typeface="Microsoft JhengHei"/>
              </a:rPr>
              <a:t>robot eel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3209544"/>
            <a:ext cx="2057400" cy="219456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5C6870"/>
                </a:solidFill>
                <a:latin typeface="Microsoft JhengHei"/>
              </a:rPr>
              <a:t>3 m x 1.5 m rectangle course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2029968"/>
            <a:ext cx="19202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1">
                <a:solidFill>
                  <a:srgbClr val="24679F"/>
                </a:solidFill>
                <a:latin typeface="Microsoft JhengHei"/>
              </a:rPr>
              <a:t>1. 取得位置
base x, y, yaw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724912" y="2368296"/>
            <a:ext cx="493776" cy="0"/>
          </a:xfrm>
          <a:prstGeom prst="line">
            <a:avLst/>
          </a:prstGeom>
          <a:ln w="2286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310128" y="2029968"/>
            <a:ext cx="196596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1">
                <a:solidFill>
                  <a:srgbClr val="239182"/>
                </a:solidFill>
                <a:latin typeface="Microsoft JhengHei"/>
              </a:rPr>
              <a:t>2. 最近路徑進度
closest_s(x, y)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358384" y="2368296"/>
            <a:ext cx="512064" cy="0"/>
          </a:xfrm>
          <a:prstGeom prst="line">
            <a:avLst/>
          </a:prstGeom>
          <a:ln w="2286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5961888" y="2029968"/>
            <a:ext cx="21488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CC8B2A"/>
                </a:solidFill>
                <a:latin typeface="Microsoft JhengHei"/>
              </a:rPr>
              <a:t>3. 前視目標點
point_at(s + lookahead)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1901952" y="2761488"/>
            <a:ext cx="5138928" cy="1005840"/>
          </a:xfrm>
          <a:prstGeom prst="line">
            <a:avLst/>
          </a:prstGeom>
          <a:ln w="17780">
            <a:solidFill>
              <a:srgbClr val="CC8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1520" y="3840480"/>
            <a:ext cx="23317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B74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B74C43"/>
                </a:solidFill>
                <a:latin typeface="Microsoft JhengHei"/>
              </a:rPr>
              <a:t>4. heading error
wrap_pi(desired_yaw - yaw)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154680" y="4197096"/>
            <a:ext cx="521207" cy="0"/>
          </a:xfrm>
          <a:prstGeom prst="line">
            <a:avLst/>
          </a:prstGeom>
          <a:ln w="22860">
            <a:solidFill>
              <a:srgbClr val="B74C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3767328" y="3840480"/>
            <a:ext cx="20574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1">
                <a:solidFill>
                  <a:srgbClr val="24679F"/>
                </a:solidFill>
                <a:latin typeface="Microsoft JhengHei"/>
              </a:rPr>
              <a:t>5. steering bias
low-pass + clamp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925312" y="4197096"/>
            <a:ext cx="493776" cy="0"/>
          </a:xfrm>
          <a:prstGeom prst="line">
            <a:avLst/>
          </a:prstGeom>
          <a:ln w="2286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6510528" y="3840480"/>
            <a:ext cx="21488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1">
                <a:solidFill>
                  <a:srgbClr val="239182"/>
                </a:solidFill>
                <a:latin typeface="Microsoft JhengHei"/>
              </a:rPr>
              <a:t>6. 更新 CPG
joint_bias + turn amp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759952" y="4197096"/>
            <a:ext cx="493776" cy="0"/>
          </a:xfrm>
          <a:prstGeom prst="line">
            <a:avLst/>
          </a:prstGeom>
          <a:ln w="2286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9345168" y="3840480"/>
            <a:ext cx="1920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CC8B2A"/>
                </a:solidFill>
                <a:latin typeface="Microsoft JhengHei"/>
              </a:rPr>
              <a:t>7. 評估
laps / contacts / bounds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5166360"/>
            <a:ext cx="10789920" cy="8229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`pure_pursuit`：用最近路徑進度加上 `lookahead`，不是只追下一個角點。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`steering_profile()`：把單一 steer 值變成 6 個 joint bias，尾端修正較大。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`turning_amp_scales()`：轉彎時尾端振幅增加，讓身體更容易繞角。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13  結論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這個流程的價值，是把可解釋搜尋和資料驅動微調接起來。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" y="2148840"/>
            <a:ext cx="1874519" cy="5029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73152"/>
          <a:lstStyle/>
          <a:p>
            <a:pPr algn="ctr"/>
            <a:r>
              <a:rPr sz="1600" b="1">
                <a:solidFill>
                  <a:srgbClr val="24679F"/>
                </a:solidFill>
                <a:latin typeface="Microsoft JhengHei"/>
              </a:rPr>
              <a:t>先懂 CPG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80360"/>
            <a:ext cx="2514600" cy="82296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1C242B"/>
                </a:solidFill>
                <a:latin typeface="Microsoft JhengHei"/>
              </a:rPr>
              <a:t>CPG 定義擺尾波形；掃描與 RL 都是在調這個波形。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2148840"/>
            <a:ext cx="1874519" cy="5029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73152"/>
          <a:lstStyle/>
          <a:p>
            <a:pPr algn="ctr"/>
            <a:r>
              <a:rPr sz="1600" b="1">
                <a:solidFill>
                  <a:srgbClr val="239182"/>
                </a:solidFill>
                <a:latin typeface="Microsoft JhengHei"/>
              </a:rPr>
              <a:t>再掃描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2880360"/>
            <a:ext cx="2514600" cy="82296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1C242B"/>
                </a:solidFill>
                <a:latin typeface="Microsoft JhengHei"/>
              </a:rPr>
              <a:t>用物理模擬快速找出可直游的 CPG 參數區域。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66760" y="2148840"/>
            <a:ext cx="1874519" cy="5029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73152"/>
          <a:lstStyle/>
          <a:p>
            <a:pPr algn="ctr"/>
            <a:r>
              <a:rPr sz="1600" b="1">
                <a:solidFill>
                  <a:srgbClr val="CC8B2A"/>
                </a:solidFill>
                <a:latin typeface="Microsoft JhengHei"/>
              </a:rPr>
              <a:t>最後微修與繞路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880360"/>
            <a:ext cx="2514600" cy="82296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1C242B"/>
                </a:solidFill>
                <a:latin typeface="Microsoft JhengHei"/>
              </a:rPr>
              <a:t>RL 修正直游品質，長方形路徑再用 steering 接上。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709160"/>
            <a:ext cx="10058400" cy="7315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1C242B"/>
                </a:solidFill>
                <a:latin typeface="Microsoft JhengHei"/>
              </a:rPr>
              <a:t>重點：CPG 負責產生擺尾波形，掃描先找穩定直游參數，RL 再在合理範圍內微調，最後用 steering 接上長方形路徑。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